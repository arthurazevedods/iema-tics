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692000" cx="7560000"/>
  <p:notesSz cx="6858000" cy="9144000"/>
  <p:embeddedFontLst>
    <p:embeddedFont>
      <p:font typeface="Space Mono"/>
      <p:regular r:id="rId12"/>
      <p:bold r:id="rId13"/>
      <p:italic r:id="rId14"/>
      <p:boldItalic r:id="rId15"/>
    </p:embeddedFont>
    <p:embeddedFont>
      <p:font typeface="Poppins Black"/>
      <p:bold r:id="rId16"/>
      <p:boldItalic r:id="rId17"/>
    </p:embeddedFont>
    <p:embeddedFont>
      <p:font typeface="Open Sans ExtraBold"/>
      <p:bold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83">
          <p15:clr>
            <a:srgbClr val="747775"/>
          </p15:clr>
        </p15:guide>
        <p15:guide id="3" orient="horz" pos="737">
          <p15:clr>
            <a:srgbClr val="747775"/>
          </p15:clr>
        </p15:guide>
        <p15:guide id="4" pos="4649">
          <p15:clr>
            <a:srgbClr val="747775"/>
          </p15:clr>
        </p15:guide>
        <p15:guide id="5" orient="horz" pos="3255">
          <p15:clr>
            <a:srgbClr val="747775"/>
          </p15:clr>
        </p15:guide>
        <p15:guide id="6" orient="horz" pos="6622">
          <p15:clr>
            <a:srgbClr val="747775"/>
          </p15:clr>
        </p15:guide>
        <p15:guide id="7" orient="horz" pos="3480">
          <p15:clr>
            <a:srgbClr val="747775"/>
          </p15:clr>
        </p15:guide>
        <p15:guide id="8" orient="horz" pos="119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83"/>
        <p:guide pos="737" orient="horz"/>
        <p:guide pos="4649"/>
        <p:guide pos="3255" orient="horz"/>
        <p:guide pos="6622" orient="horz"/>
        <p:guide pos="3480" orient="horz"/>
        <p:guide pos="119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font" Target="fonts/SpaceMono-bold.fntdata"/><Relationship Id="rId12" Type="http://schemas.openxmlformats.org/officeDocument/2006/relationships/font" Target="fonts/SpaceMono-regular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paceMono-boldItalic.fntdata"/><Relationship Id="rId14" Type="http://schemas.openxmlformats.org/officeDocument/2006/relationships/font" Target="fonts/SpaceMono-italic.fntdata"/><Relationship Id="rId17" Type="http://schemas.openxmlformats.org/officeDocument/2006/relationships/font" Target="fonts/PoppinsBlack-boldItalic.fntdata"/><Relationship Id="rId16" Type="http://schemas.openxmlformats.org/officeDocument/2006/relationships/font" Target="fonts/PoppinsBlack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1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5bb977826_0_0:notes"/>
          <p:cNvSpPr/>
          <p:nvPr>
            <p:ph idx="2" type="sldImg"/>
          </p:nvPr>
        </p:nvSpPr>
        <p:spPr>
          <a:xfrm>
            <a:off x="221701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5bb9778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5bb977826_0_67:notes"/>
          <p:cNvSpPr/>
          <p:nvPr>
            <p:ph idx="2" type="sldImg"/>
          </p:nvPr>
        </p:nvSpPr>
        <p:spPr>
          <a:xfrm>
            <a:off x="221701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c5bb97782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f5765ee9e1_0_0:notes"/>
          <p:cNvSpPr/>
          <p:nvPr>
            <p:ph idx="2" type="sldImg"/>
          </p:nvPr>
        </p:nvSpPr>
        <p:spPr>
          <a:xfrm>
            <a:off x="221701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f5765ee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bacc75147_0_114:notes"/>
          <p:cNvSpPr/>
          <p:nvPr>
            <p:ph idx="2" type="sldImg"/>
          </p:nvPr>
        </p:nvSpPr>
        <p:spPr>
          <a:xfrm>
            <a:off x="221701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cbacc7514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bacc75147_0_20:notes"/>
          <p:cNvSpPr/>
          <p:nvPr>
            <p:ph idx="2" type="sldImg"/>
          </p:nvPr>
        </p:nvSpPr>
        <p:spPr>
          <a:xfrm>
            <a:off x="221701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bacc751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bacc75147_0_80:notes"/>
          <p:cNvSpPr/>
          <p:nvPr>
            <p:ph idx="2" type="sldImg"/>
          </p:nvPr>
        </p:nvSpPr>
        <p:spPr>
          <a:xfrm>
            <a:off x="221701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bacc7514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6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https://br.freepik.com/vetores-gratis/ilustracao-do-conceito-de-mensagens_5911277.htm" TargetMode="External"/><Relationship Id="rId5" Type="http://schemas.openxmlformats.org/officeDocument/2006/relationships/hyperlink" Target="http://cidadaniadigital.org.br" TargetMode="External"/><Relationship Id="rId6" Type="http://schemas.openxmlformats.org/officeDocument/2006/relationships/hyperlink" Target="http://cidadaniadigital.org.br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br.freepik.com/vetores-gratis/faca-chover-conceito-de-ilustracao_6202544.htm#query=shopping&amp;position=0&amp;from_view=author&amp;uuid=7ff73d86-7f2a-44a5-9152-b53868a45612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r.freepik.com/vetores-gratis/aceitar-ilustracao-do-conceito-de-solicitacao_10594780.htm#query=dating%20crime&amp;position=21&amp;from_view=author&amp;uuid=48551b9b-92f6-4c83-a755-adc784de0898" TargetMode="External"/><Relationship Id="rId4" Type="http://schemas.openxmlformats.org/officeDocument/2006/relationships/hyperlink" Target="https://br.freepik.com/vetores-gratis/ilustracao-do-conceito-de-bilhete-de-cinema_51764352.htm#query=ticket%20fake&amp;position=1&amp;from_view=author&amp;uuid=30e32cef-7701-493c-9f84-2ff84e9feeca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hyperlink" Target="http://cidadaniadigital.org.br" TargetMode="External"/><Relationship Id="rId8" Type="http://schemas.openxmlformats.org/officeDocument/2006/relationships/hyperlink" Target="http://cidadaniadigital.org.br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r.freepik.com/vetores-gratis/ilustracao-do-conceito-de-capitao-de-barco_34719859.htm#query=pirate&amp;position=1&amp;from_view=author&amp;uuid=3f6a3c89-8d93-4d94-b2a1-fb9153424c35" TargetMode="External"/><Relationship Id="rId4" Type="http://schemas.openxmlformats.org/officeDocument/2006/relationships/image" Target="../media/image10.png"/><Relationship Id="rId5" Type="http://schemas.openxmlformats.org/officeDocument/2006/relationships/hyperlink" Target="https://br.freepik.com/vetores-gratis/ilustracao-do-conceito-de-solucao-de-problemas-de-computador_19834585.htm" TargetMode="External"/><Relationship Id="rId6" Type="http://schemas.openxmlformats.org/officeDocument/2006/relationships/image" Target="../media/image4.png"/><Relationship Id="rId7" Type="http://schemas.openxmlformats.org/officeDocument/2006/relationships/hyperlink" Target="http://cidadaniadigital.org.br" TargetMode="External"/><Relationship Id="rId8" Type="http://schemas.openxmlformats.org/officeDocument/2006/relationships/hyperlink" Target="http://cidadaniadigital.org.br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img.freepik.com/vetores-gratis/ilustracao-de-conceito-de-busca-de-emprego_114360-326.jpg?w=1060&amp;t=st=1709988938~exp=1709989538~hmac=3558ff7ddf9b3d6b2a8e64fac8ca5b7c187218db7d1c0960ca0ca6554aaf9219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img.freepik.com/vetores-gratis/ilustracao-do-conceito-de-perda-de-dinheiro_114360-19033.jpg?w=1060&amp;t=st=1709990186~exp=1709990786~hmac=22c8a08b75da4060d6d0c812fa90cc54129b2d4da655ba0a9c74791c83eb36b6" TargetMode="External"/><Relationship Id="rId6" Type="http://schemas.openxmlformats.org/officeDocument/2006/relationships/image" Target="../media/image5.png"/><Relationship Id="rId7" Type="http://schemas.openxmlformats.org/officeDocument/2006/relationships/hyperlink" Target="http://cidadaniadigital.org.br" TargetMode="External"/><Relationship Id="rId8" Type="http://schemas.openxmlformats.org/officeDocument/2006/relationships/hyperlink" Target="http://cidadaniadigital.org.b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mg.freepik.com/vetores-gratis/ilustracao-do-conceito-de-malware-para-roubo-de-dados_114360-7387.jpg?w=1060&amp;t=st=1709989227~exp=1709989827~hmac=1e53cc017a21789ac53bb2a6f9f7910f6bde744a3da9ef30f576356e37667d5f" TargetMode="External"/><Relationship Id="rId4" Type="http://schemas.openxmlformats.org/officeDocument/2006/relationships/hyperlink" Target="https://br.freepik.com/vetores-gratis/ilustracao-do-conceito-de-conta-de-phishing_8239218.htm#fromView=search&amp;page=1&amp;position=18&amp;uuid=aaf18e8b-7f92-4c95-872b-5c626452cbae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.jpg"/><Relationship Id="rId7" Type="http://schemas.openxmlformats.org/officeDocument/2006/relationships/hyperlink" Target="http://cidadaniadigital.org.br" TargetMode="External"/><Relationship Id="rId8" Type="http://schemas.openxmlformats.org/officeDocument/2006/relationships/hyperlink" Target="http://cidadaniadigital.org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7560000" cy="5346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-3612" y="5345925"/>
            <a:ext cx="7560000" cy="5346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80000" y="180000"/>
            <a:ext cx="7200000" cy="4987500"/>
          </a:xfrm>
          <a:prstGeom prst="roundRect">
            <a:avLst>
              <a:gd fmla="val 16667" name="adj"/>
            </a:avLst>
          </a:prstGeom>
          <a:solidFill>
            <a:srgbClr val="EC5D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0">
                <a:latin typeface="Open Sans ExtraBold"/>
                <a:ea typeface="Open Sans ExtraBold"/>
                <a:cs typeface="Open Sans ExtraBold"/>
                <a:sym typeface="Open Sans ExtraBold"/>
              </a:rPr>
              <a:t>?</a:t>
            </a:r>
            <a:endParaRPr sz="25000"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76400" y="5525175"/>
            <a:ext cx="7200000" cy="4987500"/>
          </a:xfrm>
          <a:prstGeom prst="roundRect">
            <a:avLst>
              <a:gd fmla="val 16667" name="adj"/>
            </a:avLst>
          </a:prstGeom>
          <a:solidFill>
            <a:srgbClr val="EC5D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0">
                <a:latin typeface="Open Sans ExtraBold"/>
                <a:ea typeface="Open Sans ExtraBold"/>
                <a:cs typeface="Open Sans ExtraBold"/>
                <a:sym typeface="Open Sans ExtraBold"/>
              </a:rPr>
              <a:t>?</a:t>
            </a:r>
            <a:endParaRPr sz="25000"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0"/>
            <a:ext cx="7560000" cy="5346000"/>
          </a:xfrm>
          <a:prstGeom prst="rect">
            <a:avLst/>
          </a:prstGeom>
          <a:solidFill>
            <a:srgbClr val="E7A5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80000" y="189825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449" y="2315250"/>
            <a:ext cx="2453100" cy="2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409275" y="1028425"/>
            <a:ext cx="3209100" cy="3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Por meio deste aplicativo amplamente utilizado para troca de mensagens, o criminoso pode se passar por algum dos seus contatos, usando a foto de alguém que você conhece e solicitando uma quan-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tia em dinheiro supostamente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emprestado.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880500" y="1028425"/>
            <a:ext cx="3499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"Oi! Troquei de celular e número! Adiciona esse aqui agora. Ainda não tenho todos os aplicativos instalados e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1170000" marR="107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preciso fazer uma compra rápida, pode me ajudar? Pode fazer uma transferência para xxxx no valor de R$ YY. Te pago assim que chegar em casa!"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0" y="0"/>
            <a:ext cx="5860200" cy="88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rot="5400000">
            <a:off x="5861400" y="2425"/>
            <a:ext cx="8796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6366875" y="3625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180000" y="174025"/>
            <a:ext cx="5688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do WhatsApp falso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94175" y="3998325"/>
            <a:ext cx="1080000" cy="1080000"/>
          </a:xfrm>
          <a:prstGeom prst="ellipse">
            <a:avLst/>
          </a:prstGeom>
          <a:solidFill>
            <a:srgbClr val="E7A5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1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-3612" y="5345925"/>
            <a:ext cx="7560000" cy="5346000"/>
          </a:xfrm>
          <a:prstGeom prst="rect">
            <a:avLst/>
          </a:prstGeom>
          <a:solidFill>
            <a:srgbClr val="827B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176388" y="5535750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-3612" y="5345925"/>
            <a:ext cx="5860200" cy="88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 rot="5400000">
            <a:off x="5857788" y="5348350"/>
            <a:ext cx="8796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363263" y="5349550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176388" y="5519950"/>
            <a:ext cx="5688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de compras online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90563" y="9344250"/>
            <a:ext cx="1080000" cy="1080000"/>
          </a:xfrm>
          <a:prstGeom prst="ellipse">
            <a:avLst/>
          </a:prstGeom>
          <a:solidFill>
            <a:srgbClr val="827B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2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05663" y="6374350"/>
            <a:ext cx="3209100" cy="3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Falsos vendedores online enganam suas vítimas com anúncios de produtos ou serviços com preços atrativos que jamais serão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entregues ou que têm características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diferentes das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divulgadas.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876888" y="6374350"/>
            <a:ext cx="3499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Após pesquisar algum produto específico, você recebe em seu feed um anúncio com preços muito abaixo dos praticados,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        contendo uma suposta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          promoção. Ao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          clicar, você é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          redirecionado a um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          site que simulará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          a venda até o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          pagamento ser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          realizado.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2613575" y="4839638"/>
            <a:ext cx="2400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pt-BR" sz="1000" u="sng">
                <a:solidFill>
                  <a:srgbClr val="44A8B8"/>
                </a:solidFill>
                <a:latin typeface="Space Mono"/>
                <a:ea typeface="Space Mono"/>
                <a:cs typeface="Space Mono"/>
                <a:sym typeface="Space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Imagem de storyset no Freepik</a:t>
            </a:r>
            <a:endParaRPr sz="1000">
              <a:solidFill>
                <a:srgbClr val="44A8B8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395800" y="482172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5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395800" y="1017947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6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2475" y="7743634"/>
            <a:ext cx="2451599" cy="224609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2617175" y="10200325"/>
            <a:ext cx="2400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8"/>
              </a:rPr>
              <a:t>Imagem de storyset no Freepik</a:t>
            </a:r>
            <a:endParaRPr sz="1000">
              <a:solidFill>
                <a:srgbClr val="44A8B8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0" y="0"/>
            <a:ext cx="7560000" cy="5346000"/>
          </a:xfrm>
          <a:prstGeom prst="rect">
            <a:avLst/>
          </a:prstGeom>
          <a:solidFill>
            <a:srgbClr val="E9D75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180000" y="189825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3880500" y="1028425"/>
            <a:ext cx="34995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Depois de um primeiro contato com a vítima, o golpista inicia diálogos regulares para convencê-la de que está interessado.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1080000" marR="107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Quando as trocas de mensagens avançam, cria pretextos para solicitar quantias em dinheiro ou angariar informações pessoais suficientes para uma chantagem.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0" y="0"/>
            <a:ext cx="6698400" cy="88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 rot="5400000">
            <a:off x="6711025" y="-9125"/>
            <a:ext cx="879600" cy="9051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6366875" y="3625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180000" y="174025"/>
            <a:ext cx="6975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de app de relacionamento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94175" y="3998325"/>
            <a:ext cx="1080000" cy="1080000"/>
          </a:xfrm>
          <a:prstGeom prst="ellipse">
            <a:avLst/>
          </a:prstGeom>
          <a:solidFill>
            <a:srgbClr val="E9D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3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-3612" y="5345925"/>
            <a:ext cx="7560000" cy="5346000"/>
          </a:xfrm>
          <a:prstGeom prst="rect">
            <a:avLst/>
          </a:prstGeom>
          <a:solidFill>
            <a:srgbClr val="ED018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176388" y="5535750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-3612" y="5345925"/>
            <a:ext cx="5860200" cy="88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 rot="5400000">
            <a:off x="5857788" y="5348350"/>
            <a:ext cx="8796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363263" y="5349550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76402" y="5519950"/>
            <a:ext cx="6418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de ingressos falsos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390563" y="9344250"/>
            <a:ext cx="1080000" cy="1080000"/>
          </a:xfrm>
          <a:prstGeom prst="ellipse">
            <a:avLst/>
          </a:prstGeom>
          <a:solidFill>
            <a:srgbClr val="ED01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4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05675" y="6374350"/>
            <a:ext cx="3499500" cy="3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Aproveitando épocas de festivais ou grandes shows, golpistas atraem vítimas com ofertas falsas de ingressos geralmente esgotados ou difíceis de conseguir.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33258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Nesta modalidade, golpistas se valem do fator emocional – apreço que os fãs têm pelos artistas – para atraí-los.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714675" y="6374350"/>
            <a:ext cx="3661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Criminosos criam anúncios com ingressos falsos em redes sociais e aguardam contato de interessados. A vítima entra em contato e solicita informações,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1260000" marR="107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que parecem verídicas. Após o convencimento, a pessoa é encaminhada a pagar, mas o ingresso não é enviado ou é falso.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76400" y="4830438"/>
            <a:ext cx="7200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3"/>
              </a:rPr>
              <a:t>Imagem de storyset no Freepik</a:t>
            </a:r>
            <a:endParaRPr sz="1000">
              <a:solidFill>
                <a:srgbClr val="44A8B8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76400" y="10189700"/>
            <a:ext cx="7200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4"/>
              </a:rPr>
              <a:t>Imagem de storyset no Freepik</a:t>
            </a:r>
            <a:endParaRPr sz="1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4434" y="2433600"/>
            <a:ext cx="2223941" cy="2268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09275" y="1028425"/>
            <a:ext cx="3305400" cy="3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Golpistas criam perfis falsos e se aproximam de vítimas em redes sociais ou aplicativos de relacionamento. Após ganhar a confiança da vítima, pedem dinheiro ou iniciam chantagens, como ameaças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de vazar conteúdo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íntimo. Há casos,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ainda, de encontros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marcados que terminam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em roubo ou sequestro.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82753" y="8040287"/>
            <a:ext cx="2426447" cy="211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395800" y="482172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7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395800" y="1017947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8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7560000" cy="5346000"/>
          </a:xfrm>
          <a:prstGeom prst="rect">
            <a:avLst/>
          </a:prstGeom>
          <a:solidFill>
            <a:srgbClr val="F5855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80000" y="189825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0" y="0"/>
            <a:ext cx="6546000" cy="88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 rot="5400000">
            <a:off x="6547200" y="2425"/>
            <a:ext cx="8796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366875" y="3625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80000" y="174025"/>
            <a:ext cx="6594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</a:t>
            </a: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do falso imposto ou taxa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94175" y="3998325"/>
            <a:ext cx="1080000" cy="1080000"/>
          </a:xfrm>
          <a:prstGeom prst="ellipse">
            <a:avLst/>
          </a:prstGeom>
          <a:solidFill>
            <a:srgbClr val="F585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5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-3612" y="5345925"/>
            <a:ext cx="7560000" cy="5346000"/>
          </a:xfrm>
          <a:prstGeom prst="rect">
            <a:avLst/>
          </a:prstGeom>
          <a:solidFill>
            <a:srgbClr val="44A8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76388" y="5535750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-3600" y="5345925"/>
            <a:ext cx="5860200" cy="1313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 rot="5400000">
            <a:off x="5649150" y="5557000"/>
            <a:ext cx="12969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363263" y="5349550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76388" y="5519950"/>
            <a:ext cx="5688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</a:t>
            </a: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da falsa central de atendimento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90563" y="9344250"/>
            <a:ext cx="1080000" cy="1080000"/>
          </a:xfrm>
          <a:prstGeom prst="ellipse">
            <a:avLst/>
          </a:prstGeom>
          <a:solidFill>
            <a:srgbClr val="44A8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6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3820638" y="1017263"/>
            <a:ext cx="3499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"Correios: Sua encomenda MN53281H37 foi taxada. Para liberar a entrega, realize o pagamento. Mais detalhes em xxxx"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20150" y="4832613"/>
            <a:ext cx="7200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3"/>
              </a:rPr>
              <a:t>Imagem de storyset no Freepik</a:t>
            </a:r>
            <a:endParaRPr sz="1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101" y="2592138"/>
            <a:ext cx="2152476" cy="208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3904300" y="6833000"/>
            <a:ext cx="3499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"Olá, detectamos problemas nos dados da sua conta conosco. Precisamos que confirme algumas informações”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00188" y="10185588"/>
            <a:ext cx="7200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5"/>
              </a:rPr>
              <a:t>Imagem de storyset no Freepik</a:t>
            </a:r>
            <a:endParaRPr sz="1000">
              <a:solidFill>
                <a:srgbClr val="44A8B8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4863" y="7970200"/>
            <a:ext cx="2078149" cy="202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395800" y="482172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7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395800" y="1017947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8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94175" y="1017275"/>
            <a:ext cx="3164400" cy="3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Golpistas enviam e-mails ou mensagens SMS fazendo-se passar pelos Correios, Receita Federal ou outra instituição pública e informando que a v</a:t>
            </a: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ítima deve pagar um imposto ou taxa que está pendente. Eles alegam que a pessoa deve pagar 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para regularizar sua 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situação ou receber um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produto que comprou.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433075" y="6833000"/>
            <a:ext cx="32091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Golpistas entram em contato com as vítimas fazendo-se passar pela central de atendimento de um banco, loja virtual ou outra empresa. Pedem confirmações de 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dados, senhas ou 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cartões de crédito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alegando que a conta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foi invadida ou uma 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compra indevida foi </a:t>
            </a:r>
            <a:endParaRPr sz="1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feita.</a:t>
            </a:r>
            <a:endParaRPr b="1"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0" y="0"/>
            <a:ext cx="7560000" cy="5346000"/>
          </a:xfrm>
          <a:prstGeom prst="rect">
            <a:avLst/>
          </a:prstGeom>
          <a:solidFill>
            <a:srgbClr val="E7A5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180000" y="189825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0" y="0"/>
            <a:ext cx="5860200" cy="88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 rot="5400000">
            <a:off x="5861400" y="2425"/>
            <a:ext cx="8796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6366875" y="3625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80000" y="174025"/>
            <a:ext cx="5688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da vaga de emprego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94175" y="3998325"/>
            <a:ext cx="1080000" cy="1080000"/>
          </a:xfrm>
          <a:prstGeom prst="ellipse">
            <a:avLst/>
          </a:prstGeom>
          <a:solidFill>
            <a:srgbClr val="E7A5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7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-3612" y="5345925"/>
            <a:ext cx="7560000" cy="5346000"/>
          </a:xfrm>
          <a:prstGeom prst="rect">
            <a:avLst/>
          </a:prstGeom>
          <a:solidFill>
            <a:srgbClr val="827B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176388" y="5535750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-3612" y="5345925"/>
            <a:ext cx="5860200" cy="88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 rot="5400000">
            <a:off x="5857788" y="5348350"/>
            <a:ext cx="8796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6363263" y="5349550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76388" y="5519950"/>
            <a:ext cx="5688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do falso boleto 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90563" y="9344250"/>
            <a:ext cx="1080000" cy="1080000"/>
          </a:xfrm>
          <a:prstGeom prst="ellipse">
            <a:avLst/>
          </a:prstGeom>
          <a:solidFill>
            <a:srgbClr val="827B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8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095750" y="1007825"/>
            <a:ext cx="3168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"Olá, candidato! Recebemos o seu currículo, e você foi selecionado para a próxima fase. Para continuar no processo, realize nosso treinamento no valor de R$ XX". 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80000" y="4823175"/>
            <a:ext cx="7200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3"/>
              </a:rPr>
              <a:t>Imagem de storyset no Freepik</a:t>
            </a:r>
            <a:endParaRPr sz="1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462" y="2949450"/>
            <a:ext cx="2017276" cy="18529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409275" y="1061200"/>
            <a:ext cx="3601800" cy="3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Golpistas criam falsos anúncios </a:t>
            </a: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online</a:t>
            </a: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de emprego. Quando as vítimas fazem contato, </a:t>
            </a: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eles </a:t>
            </a: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solicitam informações para seguir com o pretenso processo de seleção. Em alguns casos, a vítima, além de fornecer dados pessoais, é direcionada a realizar algum pagamento por um falso curso ou outra atividade supostamente necessária para concorrer à vaga.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4150000" y="6286300"/>
            <a:ext cx="3110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Você recebe um boleto de um serviço que utiliza corriqueiramente. Esteticamente, o boleto é muito semelhante ao usual. Porém, os dados do beneficiário divergem.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76400" y="10177838"/>
            <a:ext cx="7200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5"/>
              </a:rPr>
              <a:t>Imagem de storyset no Freepik</a:t>
            </a:r>
            <a:endParaRPr sz="1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405675" y="6339675"/>
            <a:ext cx="4411200" cy="3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17883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Golpistas replicam, textualmente e graficamente, um documento de cobrança de um produto ou serviço e enviam para a vítima. Pensando se tratar de um pagamento devido, ela repassa o valor aos criminosos.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17883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17883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1462" y="8289400"/>
            <a:ext cx="1917368" cy="18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395800" y="482172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7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395800" y="1017947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8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>
            <a:off x="0" y="0"/>
            <a:ext cx="7560000" cy="5346000"/>
          </a:xfrm>
          <a:prstGeom prst="rect">
            <a:avLst/>
          </a:prstGeom>
          <a:solidFill>
            <a:srgbClr val="E9D75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180000" y="189825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624925" y="1107025"/>
            <a:ext cx="2616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"Novo jogo que está pagando muito! Baixe agora o jogo do Tigrinho”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0" y="0"/>
            <a:ext cx="5860200" cy="983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 rot="5400000">
            <a:off x="5817900" y="45925"/>
            <a:ext cx="9666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6366875" y="3625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80000" y="174025"/>
            <a:ext cx="5688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do jogo de aposta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94175" y="3998325"/>
            <a:ext cx="1080000" cy="1080000"/>
          </a:xfrm>
          <a:prstGeom prst="ellipse">
            <a:avLst/>
          </a:prstGeom>
          <a:solidFill>
            <a:srgbClr val="E9D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9</a:t>
            </a:r>
            <a:endParaRPr sz="70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-3612" y="5345925"/>
            <a:ext cx="7560000" cy="5346000"/>
          </a:xfrm>
          <a:prstGeom prst="rect">
            <a:avLst/>
          </a:prstGeom>
          <a:solidFill>
            <a:srgbClr val="ED018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176388" y="5535750"/>
            <a:ext cx="7200000" cy="498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-3612" y="5345925"/>
            <a:ext cx="5860200" cy="88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 rot="5400000">
            <a:off x="5857788" y="5348350"/>
            <a:ext cx="879600" cy="882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6363263" y="5349550"/>
            <a:ext cx="1193100" cy="36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76402" y="5519950"/>
            <a:ext cx="64185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Golpe do phishing</a:t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90576" y="9213025"/>
            <a:ext cx="1193100" cy="1211100"/>
          </a:xfrm>
          <a:prstGeom prst="ellipse">
            <a:avLst/>
          </a:prstGeom>
          <a:solidFill>
            <a:srgbClr val="ED01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10</a:t>
            </a:r>
            <a:endParaRPr sz="44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405675" y="6374350"/>
            <a:ext cx="4491900" cy="3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24741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Criminosos enganam as vítimas com um app ou site falso para que compartilhem dados de login ou outras informações pessoais. Pode acontecer por e-mail, por anúncios ou por sites falsos. Deriva do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24741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termo em inglês que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24741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significa "pescaria".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93558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93558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3876888" y="6374350"/>
            <a:ext cx="3499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Exemplo:</a:t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"Clique aqui para se cadastrar no auxílio emergencial do Governo Federal".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107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76400" y="4830438"/>
            <a:ext cx="7200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3"/>
              </a:rPr>
              <a:t>Imagem de storyset no Freepik</a:t>
            </a:r>
            <a:endParaRPr sz="1000">
              <a:solidFill>
                <a:srgbClr val="44A8B8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176400" y="10189700"/>
            <a:ext cx="7200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4"/>
              </a:rPr>
              <a:t>Imagem de storyset no Freepik</a:t>
            </a:r>
            <a:endParaRPr sz="1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409275" y="1148650"/>
            <a:ext cx="40146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Golpistas criam jogos e aplicativos que prometem ganhos em dinheiro para usuários que apostam. Você compra crédito e a promessa é de ganhos fáceis em jogos estilo cassino ou caça-níquel.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Sem regulação ou auditoria, esses jogos são programados para pagar muito pouco e usam estratégias para fomentar o vício.</a:t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5175" y="2870988"/>
            <a:ext cx="1616099" cy="161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3288" y="8040275"/>
            <a:ext cx="1933725" cy="19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5395800" y="482172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7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5395800" y="10179475"/>
            <a:ext cx="198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8"/>
              </a:rPr>
              <a:t>cidadaniadigital.org.br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