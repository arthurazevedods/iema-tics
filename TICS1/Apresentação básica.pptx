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81" d="100"/>
          <a:sy n="81" d="100"/>
        </p:scale>
        <p:origin x="754" y="6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41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DB32ED1-F310-4D41-8674-6BB1DBCD8C01}" type="datetimeyyyy">
              <a:rPr lang="pt-BR" smtClean="0"/>
              <a:t>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420BD0AB-C59E-4A46-83D3-F07787446BA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277170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647051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682598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955310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087102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3D98E91E-C890-5FD7-136C-702F642DF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Forma livre: Forma 8">
            <a:extLst>
              <a:ext uri="{FF2B5EF4-FFF2-40B4-BE49-F238E27FC236}">
                <a16:creationId xmlns:a16="http://schemas.microsoft.com/office/drawing/2014/main" id="{E4D95078-9E77-D4F6-AFE1-0FC804269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888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048072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8" name="Forma livre: Forma 10">
            <a:extLst>
              <a:ext uri="{FF2B5EF4-FFF2-40B4-BE49-F238E27FC236}">
                <a16:creationId xmlns:a16="http://schemas.microsoft.com/office/drawing/2014/main" id="{A43B42FE-F25C-8B40-DA5D-3C32004C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11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8" name="Forma livre: Forma 10">
            <a:extLst>
              <a:ext uri="{FF2B5EF4-FFF2-40B4-BE49-F238E27FC236}">
                <a16:creationId xmlns:a16="http://schemas.microsoft.com/office/drawing/2014/main" id="{22A23D47-9BAE-A3C5-6573-E252C1531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13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234921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00991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400673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669768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098681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365632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513700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m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3009890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a Liv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a Liv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4" name="Imagem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pt-B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pt-BR" sz="18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053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ç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orma livre: Forma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15" name="Forma livre: Forma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m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2" name="Título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30372130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36" name="Forma Livre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3" name="Forma Liv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lvl="0" algn="ctr" rtl="0"/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o texto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52" name="Espaço Reservado para Imagem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41748064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m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9" name="Forma Liv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1" name="Forma Liv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3" name="Imagem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o Número do Slid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9469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aç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Imagem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3" name="Imagem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7" name="Imagem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9" name="Imagem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38790956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açã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a Liv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Forma Livre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9" name="Espaço Reservado para o Número do Slid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3" name="Espaço Reservado para Conteúdo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5" name="Espaço Reservado para Conteúdo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879266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nha do Tem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pt-B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pt-B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pt-B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indent="-283464">
              <a:spcBef>
                <a:spcPts val="1000"/>
              </a:spcBef>
              <a:defRPr lang="pt-BR" sz="1800"/>
            </a:lvl2pPr>
            <a:lvl3pPr indent="-283464">
              <a:spcBef>
                <a:spcPts val="1000"/>
              </a:spcBef>
              <a:defRPr lang="pt-BR" sz="1800"/>
            </a:lvl3pPr>
            <a:lvl4pPr indent="-283464">
              <a:spcBef>
                <a:spcPts val="1000"/>
              </a:spcBef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1" name="Espaço Reservado para Imagem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orma livre: Forma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21" name="Forma livre: Forma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2" name="Forma livre: Forma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m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44" name="Espaço Reservado para o Número do Slid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5929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sum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6" name="Imagem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21" name="Imagem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a Livre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0" name="Espaço Reservado para Conteúdo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0749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nha do Temp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/>
          </a:p>
        </p:txBody>
      </p:sp>
      <p:sp>
        <p:nvSpPr>
          <p:cNvPr id="10" name="Forma Liv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Imagem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Texto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1800"/>
            </a:lvl1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pt-BR" sz="1800"/>
            </a:lvl1pPr>
            <a:lvl2pPr>
              <a:defRPr lang="pt-BR" sz="1800"/>
            </a:lvl2pPr>
            <a:lvl3pPr>
              <a:defRPr lang="pt-BR" sz="1800"/>
            </a:lvl3pPr>
            <a:lvl4pPr>
              <a:defRPr lang="pt-BR" sz="1800"/>
            </a:lvl4pPr>
            <a:lvl5pPr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63518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sum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Elemento gráfico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9" name="Forma Liv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6" name="Espaço Reservado para Conteúdo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Conteúdo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7" name="Espaço Reservado para o Número do Slid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pic>
        <p:nvPicPr>
          <p:cNvPr id="43" name="Elemento gráfico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Elemento gráfico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m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57854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19309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echament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9" name="Imagem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2707830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080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  <p:sldLayoutId id="2147483748" r:id="rId25"/>
    <p:sldLayoutId id="2147483749" r:id="rId26"/>
    <p:sldLayoutId id="2147483750" r:id="rId27"/>
    <p:sldLayoutId id="2147483751" r:id="rId28"/>
    <p:sldLayoutId id="2147483752" r:id="rId2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pt-BR"/>
            </a:defPPr>
          </a:lstStyle>
          <a:p>
            <a:pPr rtl="0"/>
            <a:r>
              <a:rPr lang="pt-BR" dirty="0"/>
              <a:t>Apresentação básica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Introdução</a:t>
            </a:r>
          </a:p>
          <a:p>
            <a:pPr rtl="0"/>
            <a:r>
              <a:rPr lang="pt-BR" dirty="0"/>
              <a:t>Criando confiança</a:t>
            </a:r>
          </a:p>
          <a:p>
            <a:pPr rtl="0"/>
            <a:r>
              <a:rPr lang="pt-BR" dirty="0"/>
              <a:t>Envolvendo o público</a:t>
            </a:r>
          </a:p>
          <a:p>
            <a:pPr rtl="0"/>
            <a:r>
              <a:rPr lang="pt-BR" dirty="0"/>
              <a:t>Recursos visuais</a:t>
            </a:r>
          </a:p>
          <a:p>
            <a:pPr rtl="0"/>
            <a:r>
              <a:rPr lang="pt-BR" dirty="0"/>
              <a:t>Dicas e conclusões finais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O poder da </a:t>
            </a:r>
            <a:br>
              <a:rPr lang="pt-BR"/>
            </a:br>
            <a:r>
              <a:rPr lang="pt-BR"/>
              <a:t>comunicação</a:t>
            </a:r>
          </a:p>
        </p:txBody>
      </p:sp>
      <p:pic>
        <p:nvPicPr>
          <p:cNvPr id="7" name="Espaço Reservado para Imagem 6" descr="Uma pessoa em pé na frente de um quadro de comunicações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/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Superando o nervosismo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Estratégias para aumentar a confiança</a:t>
            </a:r>
          </a:p>
        </p:txBody>
      </p:sp>
      <p:pic>
        <p:nvPicPr>
          <p:cNvPr id="6" name="Espaço Reservado para Imagem 5" descr="Uma pessoa segurando um microfone e em pé na frente de um grupo de pessoas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/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Envolvendo o público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851869" cy="349769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Faça contato visual com seu público para criar uma sensação de intimidade e envolvimento</a:t>
            </a:r>
          </a:p>
          <a:p>
            <a:pPr rtl="0"/>
            <a:r>
              <a:rPr lang="pt-BR" dirty="0"/>
              <a:t>Inclua histórias que possam ser relacionadas em sua apresentação usando narrativas que tornem sua mensagem memorável e impactante</a:t>
            </a:r>
          </a:p>
          <a:p>
            <a:pPr rtl="0"/>
            <a:r>
              <a:rPr lang="pt-BR" dirty="0"/>
              <a:t>Incentive perguntas e forneça respostas cuidadosas para aprimorar a participação do público</a:t>
            </a:r>
          </a:p>
          <a:p>
            <a:pPr rtl="0"/>
            <a:r>
              <a:rPr lang="pt-BR" dirty="0"/>
              <a:t>Use votações ou pesquisas ao vivo para coletar opiniões do público, promovendo o envolvimento e garantindo que o público se sinta envolvido</a:t>
            </a:r>
          </a:p>
        </p:txBody>
      </p:sp>
      <p:sp>
        <p:nvSpPr>
          <p:cNvPr id="23" name="Espaço Reservado para o Número do Slide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5380082" cy="252021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Seleção de recursos visuais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Aprimorando sua apresentação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Técnicas eficazes de entrega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7</a:t>
            </a:fld>
            <a:endParaRPr lang="pt-BR" dirty="0"/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439886" cy="372033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Essa é uma ferramenta poderosa para falar em público. Envolve variação de timbre, tom e volume para transmitir emoção, enfatizar pontos e manter o interesse. </a:t>
            </a:r>
          </a:p>
          <a:p>
            <a:pPr lvl="1" rtl="0"/>
            <a:r>
              <a:rPr lang="pt-BR" dirty="0"/>
              <a:t>Variação do tom</a:t>
            </a:r>
          </a:p>
          <a:p>
            <a:pPr lvl="1" rtl="0"/>
            <a:r>
              <a:rPr lang="pt-BR" dirty="0"/>
              <a:t>Inflexão do tom</a:t>
            </a:r>
          </a:p>
          <a:p>
            <a:pPr lvl="1" rtl="0"/>
            <a:r>
              <a:rPr lang="pt-BR" dirty="0"/>
              <a:t>Controle de volume</a:t>
            </a:r>
          </a:p>
        </p:txBody>
      </p:sp>
      <p:sp>
        <p:nvSpPr>
          <p:cNvPr id="17" name="Espaço Reservado para Conteúdo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621612" cy="372033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Uma linguagem corporal eficaz aprimora sua mensagem, tornando-a mais impactante e memorável.</a:t>
            </a:r>
          </a:p>
          <a:p>
            <a:pPr lvl="1" rtl="0"/>
            <a:r>
              <a:rPr lang="pt-BR" dirty="0"/>
              <a:t>Contato visual significativo</a:t>
            </a:r>
          </a:p>
          <a:p>
            <a:pPr lvl="1" rtl="0"/>
            <a:r>
              <a:rPr lang="pt-BR" dirty="0"/>
              <a:t>Gestos intencionais</a:t>
            </a:r>
          </a:p>
          <a:p>
            <a:pPr lvl="1" rtl="0"/>
            <a:r>
              <a:rPr lang="pt-BR" dirty="0"/>
              <a:t>Manter uma boa postura</a:t>
            </a:r>
          </a:p>
          <a:p>
            <a:pPr lvl="1" rtl="0"/>
            <a:r>
              <a:rPr lang="pt-BR" dirty="0"/>
              <a:t>Controle suas expressões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965393"/>
            <a:ext cx="7155402" cy="109162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Navegando em sessões de P e R</a:t>
            </a:r>
          </a:p>
        </p:txBody>
      </p:sp>
      <p:sp>
        <p:nvSpPr>
          <p:cNvPr id="14" name="Espaço Reservado para Conteúdo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763962" cy="414337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Mantendo a compostura durante a sessão de perguntas </a:t>
            </a:r>
            <a:br>
              <a:rPr lang="pt-BR" dirty="0"/>
            </a:br>
            <a:r>
              <a:rPr lang="pt-BR" dirty="0"/>
              <a:t>e respostas é essencial para projetar confiança e autoridade. Considere as seguintes dicas para manter a compostura:</a:t>
            </a:r>
          </a:p>
          <a:p>
            <a:pPr rtl="0"/>
            <a:r>
              <a:rPr lang="pt-BR" dirty="0"/>
              <a:t>Fique tranquilo</a:t>
            </a:r>
          </a:p>
          <a:p>
            <a:pPr rtl="0"/>
            <a:r>
              <a:rPr lang="pt-BR" dirty="0"/>
              <a:t>Ouça ativamente</a:t>
            </a:r>
          </a:p>
          <a:p>
            <a:pPr rtl="0"/>
            <a:r>
              <a:rPr lang="pt-BR" dirty="0"/>
              <a:t>Pause e reflita</a:t>
            </a:r>
          </a:p>
          <a:p>
            <a:pPr rtl="0"/>
            <a:r>
              <a:rPr lang="pt-BR" dirty="0"/>
              <a:t>Mantenha contato visual</a:t>
            </a:r>
          </a:p>
        </p:txBody>
      </p:sp>
      <p:sp>
        <p:nvSpPr>
          <p:cNvPr id="13" name="Espaço Reservado para Conteúdo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4207904" cy="414337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Conheça seu material com antecedência </a:t>
            </a:r>
          </a:p>
          <a:p>
            <a:pPr rtl="0"/>
            <a:r>
              <a:rPr lang="pt-BR" dirty="0"/>
              <a:t>Preveja perguntas comuns </a:t>
            </a:r>
          </a:p>
          <a:p>
            <a:pPr rtl="0"/>
            <a:r>
              <a:rPr lang="pt-BR" dirty="0"/>
              <a:t>Ensaie suas respostas</a:t>
            </a:r>
          </a:p>
        </p:txBody>
      </p:sp>
      <p:pic>
        <p:nvPicPr>
          <p:cNvPr id="10" name="Espaço Reservado para Imagem 9" descr="Uma pessoa usando um terno azul e fones de ouvido apontando para um computado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/>
      </p:pic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Impacto da fala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Sua capacidade de se comunicar efetivamente deixará um impacto duradouro no seu público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A comunicação eficaz envolve não apenas a entrega de uma mensagem, mas também a ressonância com as experiências, os valores e as emoções de quem está ouvindo </a:t>
            </a:r>
          </a:p>
        </p:txBody>
      </p:sp>
      <p:pic>
        <p:nvPicPr>
          <p:cNvPr id="7" name="Espaço Reservado para Imagem 6" descr="Uma pessoa usando óculos e vestindo uma camisa azul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/>
      </p:pic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Entrega dinâmica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Aprenda a infundir energia na sua entrega para deixar uma impressão duradoura</a:t>
            </a:r>
          </a:p>
          <a:p>
            <a:pPr rtl="0"/>
            <a:r>
              <a:rPr lang="pt-BR" dirty="0"/>
              <a:t>Um dos objetivos de uma comunicação eficaz é motivar seu público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51677533"/>
              </p:ext>
            </p:extLst>
          </p:nvPr>
        </p:nvGraphicFramePr>
        <p:xfrm>
          <a:off x="5087938" y="2332038"/>
          <a:ext cx="6345237" cy="37211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Métrica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Medida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Meta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Real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Participação do público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Nº de participantes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Duração do compromisso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Minutos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Interação de P e R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Nº de perguntas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Comentários positivos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Porcentagem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Taxa de retenção de informações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Porcentagem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Dicas e conclusões finais</a:t>
            </a:r>
          </a:p>
        </p:txBody>
      </p:sp>
      <p:sp>
        <p:nvSpPr>
          <p:cNvPr id="12" name="Espaço Reservado para Conteúdo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Prática consistente</a:t>
            </a:r>
          </a:p>
          <a:p>
            <a:pPr lvl="1" rtl="0"/>
            <a:r>
              <a:rPr lang="pt-BR" dirty="0"/>
              <a:t>Fortaleça sua familiaridade</a:t>
            </a:r>
          </a:p>
          <a:p>
            <a:pPr rtl="0"/>
            <a:r>
              <a:rPr lang="pt-BR" dirty="0"/>
              <a:t>Refine o estilo da entrega</a:t>
            </a:r>
          </a:p>
          <a:p>
            <a:pPr lvl="1" rtl="0"/>
            <a:r>
              <a:rPr lang="pt-BR" dirty="0"/>
              <a:t>Ritmo, tom e ênfase</a:t>
            </a:r>
          </a:p>
          <a:p>
            <a:pPr rtl="0"/>
            <a:r>
              <a:rPr lang="pt-BR" dirty="0"/>
              <a:t>Intervalo e transições</a:t>
            </a:r>
          </a:p>
          <a:p>
            <a:pPr lvl="1" rtl="0"/>
            <a:r>
              <a:rPr lang="pt-BR" dirty="0"/>
              <a:t>Busque uma apresentação perfeita e profissional</a:t>
            </a:r>
          </a:p>
          <a:p>
            <a:pPr rtl="0"/>
            <a:r>
              <a:rPr lang="pt-BR" dirty="0"/>
              <a:t>Audiência de prática</a:t>
            </a:r>
          </a:p>
          <a:p>
            <a:pPr lvl="1" rtl="0"/>
            <a:r>
              <a:rPr lang="pt-BR" dirty="0"/>
              <a:t>Peça aos colegas que ouçam e forneçam feedbacks</a:t>
            </a:r>
          </a:p>
        </p:txBody>
      </p:sp>
      <p:sp>
        <p:nvSpPr>
          <p:cNvPr id="13" name="Espaço Reservado para Conteúdo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Busque feedbacks</a:t>
            </a:r>
          </a:p>
          <a:p>
            <a:pPr rtl="0"/>
            <a:r>
              <a:rPr lang="pt-BR" dirty="0"/>
              <a:t>Reflita sobre o desempenho</a:t>
            </a:r>
          </a:p>
          <a:p>
            <a:pPr rtl="0"/>
            <a:r>
              <a:rPr lang="pt-BR" dirty="0"/>
              <a:t>Explore novas técnicas</a:t>
            </a:r>
          </a:p>
          <a:p>
            <a:pPr rtl="0"/>
            <a:r>
              <a:rPr lang="pt-BR" dirty="0"/>
              <a:t>Defina metas pessoais</a:t>
            </a:r>
          </a:p>
          <a:p>
            <a:pPr rtl="0"/>
            <a:r>
              <a:rPr lang="pt-BR" dirty="0"/>
              <a:t>Iterar e adaptar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Métricas de participação de fala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271806314"/>
              </p:ext>
            </p:extLst>
          </p:nvPr>
        </p:nvGraphicFramePr>
        <p:xfrm>
          <a:off x="914400" y="2316163"/>
          <a:ext cx="10510838" cy="394811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3971109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288868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288459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Fator de impacto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Medida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Meta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Alcançado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Interação com o público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Porcentagem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Retenção de conhecimento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Porcentagem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Pesquisas pós-apresentação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Classificação média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Taxa de referência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Porcentagem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Oportunidades de colaboração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Nº de oportunidades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3213716" cy="272770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Obrigado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Brita Tamm</a:t>
            </a:r>
          </a:p>
          <a:p>
            <a:pPr rtl="0"/>
            <a:r>
              <a:rPr lang="pt-BR"/>
              <a:t>502-555-0152</a:t>
            </a:r>
          </a:p>
          <a:p>
            <a:pPr rtl="0"/>
            <a:r>
              <a:rPr lang="pt-BR"/>
              <a:t>brita@firstupconsultants.com </a:t>
            </a:r>
          </a:p>
          <a:p>
            <a:pPr rtl="0"/>
            <a:r>
              <a:rPr lang="pt-BR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466</Words>
  <Application>Microsoft Office PowerPoint</Application>
  <PresentationFormat>Widescreen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Facetado</vt:lpstr>
      <vt:lpstr>Apresentação básica</vt:lpstr>
      <vt:lpstr>agenda</vt:lpstr>
      <vt:lpstr>O poder da  comunicação</vt:lpstr>
      <vt:lpstr>Superando o nervosismo</vt:lpstr>
      <vt:lpstr>Envolvendo o público</vt:lpstr>
      <vt:lpstr>Seleção de recursos visuais</vt:lpstr>
      <vt:lpstr>Técnicas eficazes de entrega</vt:lpstr>
      <vt:lpstr>Navegando em sessões de P e R</vt:lpstr>
      <vt:lpstr>Impacto da fala</vt:lpstr>
      <vt:lpstr>Entrega dinâmica</vt:lpstr>
      <vt:lpstr>Dicas e conclusões finais</vt:lpstr>
      <vt:lpstr>Métricas de participação de fala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básica</dc:title>
  <dc:subject/>
  <dc:creator>TAYNARA ELLEN MARTINS AZEVEDO DA SILVA</dc:creator>
  <cp:lastModifiedBy>TAYNARA ELLEN MARTINS AZEVEDO DA SILVA</cp:lastModifiedBy>
  <cp:revision>1</cp:revision>
  <dcterms:created xsi:type="dcterms:W3CDTF">2024-04-23T18:00:38Z</dcterms:created>
  <dcterms:modified xsi:type="dcterms:W3CDTF">2024-04-23T18:06:21Z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